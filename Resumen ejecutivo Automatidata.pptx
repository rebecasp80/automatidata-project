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7772400" cy="10058400"/>
  <p:notesSz cx="6858000" cy="9144000"/>
  <p:embeddedFontLs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5033" autoAdjust="0"/>
  </p:normalViewPr>
  <p:slideViewPr>
    <p:cSldViewPr snapToGrid="0">
      <p:cViewPr varScale="1">
        <p:scale>
          <a:sx n="56" d="100"/>
          <a:sy n="56" d="100"/>
        </p:scale>
        <p:origin x="518" y="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>
          <a:extLst>
            <a:ext uri="{FF2B5EF4-FFF2-40B4-BE49-F238E27FC236}">
              <a16:creationId xmlns:a16="http://schemas.microsoft.com/office/drawing/2014/main" id="{061E4194-FF81-534D-0E1B-364B603E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>
            <a:extLst>
              <a:ext uri="{FF2B5EF4-FFF2-40B4-BE49-F238E27FC236}">
                <a16:creationId xmlns:a16="http://schemas.microsoft.com/office/drawing/2014/main" id="{C4BC05AC-D26B-6905-055C-D5F79A6AF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>
            <a:extLst>
              <a:ext uri="{FF2B5EF4-FFF2-40B4-BE49-F238E27FC236}">
                <a16:creationId xmlns:a16="http://schemas.microsoft.com/office/drawing/2014/main" id="{D9B6F84A-F2E3-50E9-4205-8EB1CC293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8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6476" y="2123442"/>
            <a:ext cx="5627823" cy="4883385"/>
          </a:xfrm>
        </p:spPr>
        <p:txBody>
          <a:bodyPr anchor="b"/>
          <a:lstStyle>
            <a:lvl1pPr>
              <a:defRPr sz="61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6476" y="7006824"/>
            <a:ext cx="5627823" cy="1263416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7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5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4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3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1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08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20688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58589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77" y="4197210"/>
            <a:ext cx="5627822" cy="2809616"/>
          </a:xfrm>
        </p:spPr>
        <p:txBody>
          <a:bodyPr anchor="b"/>
          <a:lstStyle>
            <a:lvl1pPr algn="l">
              <a:defRPr sz="3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76" y="7006825"/>
            <a:ext cx="5627823" cy="1261920"/>
          </a:xfrm>
        </p:spPr>
        <p:txBody>
          <a:bodyPr anchor="t"/>
          <a:lstStyle>
            <a:lvl1pPr marL="0" indent="0" algn="l">
              <a:buNone/>
              <a:defRPr sz="17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81544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545" y="3022179"/>
            <a:ext cx="2803396" cy="6153786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05679" y="3015604"/>
            <a:ext cx="2803398" cy="6160359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0952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545" y="2794000"/>
            <a:ext cx="2803395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545" y="3688080"/>
            <a:ext cx="2803396" cy="5487882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05680" y="2794000"/>
            <a:ext cx="2803396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05680" y="3688080"/>
            <a:ext cx="2803396" cy="5487882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81233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33099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8403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75" y="2123440"/>
            <a:ext cx="2168743" cy="2123440"/>
          </a:xfrm>
        </p:spPr>
        <p:txBody>
          <a:bodyPr anchor="b"/>
          <a:lstStyle>
            <a:lvl1pPr algn="l">
              <a:defRPr sz="204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0988" y="2123440"/>
            <a:ext cx="3313311" cy="6705600"/>
          </a:xfrm>
        </p:spPr>
        <p:txBody>
          <a:bodyPr anchor="ctr">
            <a:normAutofit/>
          </a:bodyPr>
          <a:lstStyle>
            <a:lvl1pPr>
              <a:defRPr sz="1700"/>
            </a:lvl1pPr>
            <a:lvl2pPr>
              <a:defRPr sz="1530"/>
            </a:lvl2pPr>
            <a:lvl3pPr>
              <a:defRPr sz="1360"/>
            </a:lvl3pPr>
            <a:lvl4pPr>
              <a:defRPr sz="1190"/>
            </a:lvl4pPr>
            <a:lvl5pPr>
              <a:defRPr sz="1190"/>
            </a:lvl5pPr>
            <a:lvl6pPr>
              <a:defRPr sz="1190"/>
            </a:lvl6pPr>
            <a:lvl7pPr>
              <a:defRPr sz="1190"/>
            </a:lvl7pPr>
            <a:lvl8pPr>
              <a:defRPr sz="1190"/>
            </a:lvl8pPr>
            <a:lvl9pPr>
              <a:defRPr sz="119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75" y="4589613"/>
            <a:ext cx="2168743" cy="4246879"/>
          </a:xfrm>
        </p:spPr>
        <p:txBody>
          <a:bodyPr/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87550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808" y="2719482"/>
            <a:ext cx="3247573" cy="2309718"/>
          </a:xfrm>
        </p:spPr>
        <p:txBody>
          <a:bodyPr anchor="b">
            <a:normAutofit/>
          </a:bodyPr>
          <a:lstStyle>
            <a:lvl1pPr algn="l">
              <a:defRPr sz="306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1490" y="1676400"/>
            <a:ext cx="2040786" cy="67056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75" y="5364480"/>
            <a:ext cx="3242519" cy="2011680"/>
          </a:xfrm>
        </p:spPr>
        <p:txBody>
          <a:bodyPr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516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77" y="7040861"/>
            <a:ext cx="5627822" cy="831216"/>
          </a:xfrm>
        </p:spPr>
        <p:txBody>
          <a:bodyPr anchor="b">
            <a:normAutofit/>
          </a:bodyPr>
          <a:lstStyle>
            <a:lvl1pPr algn="l">
              <a:defRPr sz="204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6476" y="1005840"/>
            <a:ext cx="5627823" cy="533964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77" y="7872077"/>
            <a:ext cx="5627821" cy="724111"/>
          </a:xfrm>
        </p:spPr>
        <p:txBody>
          <a:bodyPr>
            <a:normAutofit/>
          </a:bodyPr>
          <a:lstStyle>
            <a:lvl1pPr marL="0" indent="0">
              <a:buNone/>
              <a:defRPr sz="102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73814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76" y="2123440"/>
            <a:ext cx="5627823" cy="2905760"/>
          </a:xfrm>
        </p:spPr>
        <p:txBody>
          <a:bodyPr/>
          <a:lstStyle>
            <a:lvl1pPr>
              <a:defRPr sz="40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76" y="5364480"/>
            <a:ext cx="5627823" cy="3464560"/>
          </a:xfrm>
        </p:spPr>
        <p:txBody>
          <a:bodyPr anchor="ctr">
            <a:normAutofit/>
          </a:bodyPr>
          <a:lstStyle>
            <a:lvl1pPr marL="0" indent="0">
              <a:buNone/>
              <a:defRPr sz="153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3579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198" y="2123440"/>
            <a:ext cx="5100892" cy="3407615"/>
          </a:xfrm>
        </p:spPr>
        <p:txBody>
          <a:bodyPr/>
          <a:lstStyle>
            <a:lvl1pPr>
              <a:defRPr sz="40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230951" y="5531055"/>
            <a:ext cx="4641985" cy="50185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19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76" y="6380964"/>
            <a:ext cx="5627823" cy="2458720"/>
          </a:xfrm>
        </p:spPr>
        <p:txBody>
          <a:bodyPr anchor="ctr">
            <a:normAutofit/>
          </a:bodyPr>
          <a:lstStyle>
            <a:lvl1pPr marL="0" indent="0">
              <a:buNone/>
              <a:defRPr sz="153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572813" y="1424505"/>
            <a:ext cx="511352" cy="1688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37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9737" y="3833554"/>
            <a:ext cx="511352" cy="1688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37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48623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75" y="4582161"/>
            <a:ext cx="5627824" cy="2424664"/>
          </a:xfrm>
        </p:spPr>
        <p:txBody>
          <a:bodyPr anchor="b"/>
          <a:lstStyle>
            <a:lvl1pPr algn="l">
              <a:defRPr sz="3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76" y="7006825"/>
            <a:ext cx="5627823" cy="1261920"/>
          </a:xfrm>
        </p:spPr>
        <p:txBody>
          <a:bodyPr anchor="t"/>
          <a:lstStyle>
            <a:lvl1pPr marL="0" indent="0" algn="l">
              <a:buNone/>
              <a:defRPr sz="17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052377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7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609" y="2905760"/>
            <a:ext cx="1879116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16054" y="3911600"/>
            <a:ext cx="1866671" cy="5264362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76478" y="2905760"/>
            <a:ext cx="1872341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69749" y="3911600"/>
            <a:ext cx="1879070" cy="5264362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43180" y="2905760"/>
            <a:ext cx="1869709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543180" y="3911600"/>
            <a:ext cx="1869709" cy="5264362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76034" y="3129280"/>
            <a:ext cx="0" cy="581152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439576" y="3129280"/>
            <a:ext cx="0" cy="5818094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8313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7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054" y="6234725"/>
            <a:ext cx="1874770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16054" y="3241040"/>
            <a:ext cx="1874770" cy="2235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16054" y="7079911"/>
            <a:ext cx="1874770" cy="966811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80123" y="6234725"/>
            <a:ext cx="1868696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80122" y="3241040"/>
            <a:ext cx="1868696" cy="2235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79260" y="7079910"/>
            <a:ext cx="1871171" cy="966811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43180" y="6234725"/>
            <a:ext cx="1869709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543179" y="3241040"/>
            <a:ext cx="1869709" cy="2235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543101" y="7079907"/>
            <a:ext cx="1872185" cy="966811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76034" y="3129280"/>
            <a:ext cx="0" cy="581152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439576" y="3129280"/>
            <a:ext cx="0" cy="5818094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5324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26279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95315" y="630981"/>
            <a:ext cx="1117574" cy="8544983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6054" y="1134034"/>
            <a:ext cx="4733490" cy="804193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92211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">
  <p:cSld name="BLANK 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607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Layou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8094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Layout 2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0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76898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5">
  <p:cSld name="Layout 5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07568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Layout 3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2842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Layout 4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2237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6">
  <p:cSld name="Layout 6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03680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354517" y="2458720"/>
            <a:ext cx="2396490" cy="413512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836357" y="-670560"/>
            <a:ext cx="1360170" cy="234696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354517" y="8940800"/>
            <a:ext cx="842010" cy="14528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30890" y="3911600"/>
            <a:ext cx="3562350" cy="61468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713820" y="4246880"/>
            <a:ext cx="2007870" cy="346456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583797" y="0"/>
            <a:ext cx="582930" cy="16125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2004" y="663986"/>
            <a:ext cx="5997073" cy="2054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545" y="3010957"/>
            <a:ext cx="5704906" cy="6153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6065306" y="2752701"/>
            <a:ext cx="1452879" cy="1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35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4AAD347D-5ACD-4C99-B74B-A9C85AD731AF}" type="datetimeFigureOut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4108232" y="4856781"/>
            <a:ext cx="5661033" cy="1943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35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601467" y="433747"/>
            <a:ext cx="534491" cy="11259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81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r"/>
            <a:fld id="{00000000-1234-1234-1234-123412341234}" type="slidenum">
              <a:rPr lang="es-ES" smtClean="0"/>
              <a:pPr algn="r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7287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</p:sldLayoutIdLst>
  <p:hf sldNum="0" hdr="0" ftr="0" dt="0"/>
  <p:txStyles>
    <p:titleStyle>
      <a:lvl1pPr algn="l" defTabSz="388626" rtl="0" eaLnBrk="1" latinLnBrk="0" hangingPunct="1">
        <a:spcBef>
          <a:spcPct val="0"/>
        </a:spcBef>
        <a:buNone/>
        <a:defRPr sz="357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91470" indent="-291470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0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marL="631518" indent="-242892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3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2pPr>
      <a:lvl3pPr marL="971567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6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3pPr>
      <a:lvl4pPr marL="1360193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4pPr>
      <a:lvl5pPr marL="1748819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5pPr>
      <a:lvl6pPr marL="2137446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526072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914698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303324" indent="-194313" algn="l" defTabSz="388626" rtl="0" eaLnBrk="1" latinLnBrk="0" hangingPunct="1">
        <a:spcBef>
          <a:spcPts val="8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9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6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53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79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506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32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59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85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9012" algn="l" defTabSz="388626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2384657"/>
            <a:ext cx="70770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latin typeface="Segoe UI" panose="020B0502040204020203" pitchFamily="34" charset="0"/>
                <a:ea typeface="Google Sans"/>
                <a:cs typeface="Segoe UI" panose="020B0502040204020203" pitchFamily="34" charset="0"/>
                <a:sym typeface="Google Sans"/>
              </a:rPr>
              <a:t>Resumen ejecutivo del Proyecto </a:t>
            </a:r>
            <a:r>
              <a:rPr lang="es-ES" sz="3200" b="1" dirty="0" err="1">
                <a:latin typeface="Segoe UI" panose="020B0502040204020203" pitchFamily="34" charset="0"/>
                <a:ea typeface="Google Sans"/>
                <a:cs typeface="Segoe UI" panose="020B0502040204020203" pitchFamily="34" charset="0"/>
                <a:sym typeface="Google Sans"/>
              </a:rPr>
              <a:t>Automatidata</a:t>
            </a:r>
            <a:r>
              <a:rPr lang="es-ES" sz="3200" b="1" dirty="0">
                <a:latin typeface="Segoe UI" panose="020B0502040204020203" pitchFamily="34" charset="0"/>
                <a:ea typeface="Google Sans"/>
                <a:cs typeface="Segoe UI" panose="020B0502040204020203" pitchFamily="34" charset="0"/>
                <a:sym typeface="Google Sans"/>
              </a:rPr>
              <a:t> - TLC</a:t>
            </a:r>
            <a:endParaRPr sz="3200" b="1" dirty="0">
              <a:latin typeface="Segoe UI" panose="020B0502040204020203" pitchFamily="34" charset="0"/>
              <a:ea typeface="Google Sans"/>
              <a:cs typeface="Segoe UI" panose="020B0502040204020203" pitchFamily="34" charset="0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2549235" y="5042751"/>
            <a:ext cx="4956389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latin typeface="Segoe UI" panose="020B0502040204020203" pitchFamily="34" charset="0"/>
                <a:ea typeface="Google Sans"/>
                <a:cs typeface="Segoe UI" panose="020B0502040204020203" pitchFamily="34" charset="0"/>
                <a:sym typeface="Google Sans"/>
              </a:rPr>
              <a:t>Predicción de tarifas de taxi para la Comisión de Taxis y Limusinas de Nueva York (TLC)</a:t>
            </a:r>
            <a:endParaRPr sz="2400" dirty="0">
              <a:latin typeface="Segoe UI" panose="020B0502040204020203" pitchFamily="34" charset="0"/>
              <a:ea typeface="Google Sans"/>
              <a:cs typeface="Segoe UI" panose="020B0502040204020203" pitchFamily="34" charset="0"/>
              <a:sym typeface="Google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01DC17-BDBB-69D4-9E52-B9BA1AB41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389609"/>
            <a:ext cx="1889760" cy="480822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01D718-F294-AAB5-8455-5862691009BD}"/>
              </a:ext>
            </a:extLst>
          </p:cNvPr>
          <p:cNvSpPr txBox="1"/>
          <p:nvPr/>
        </p:nvSpPr>
        <p:spPr>
          <a:xfrm>
            <a:off x="2549235" y="8797719"/>
            <a:ext cx="4794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>
                <a:latin typeface="Segoe UI" panose="020B0502040204020203" pitchFamily="34" charset="0"/>
                <a:cs typeface="Segoe UI" panose="020B0502040204020203" pitchFamily="34" charset="0"/>
              </a:rPr>
              <a:t>Vista general del </a:t>
            </a:r>
            <a:r>
              <a:rPr lang="es-E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200" dirty="0">
                <a:latin typeface="Segoe UI" panose="020B0502040204020203" pitchFamily="34" charset="0"/>
                <a:cs typeface="Segoe UI" panose="020B0502040204020203" pitchFamily="34" charset="0"/>
              </a:rPr>
              <a:t> TLC con las columnas principales utilizadas para el análisis exploratorio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769029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solidFill>
                  <a:schemeClr val="accent1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Resumen del proyecto</a:t>
            </a:r>
            <a:endParaRPr sz="1600" b="1" dirty="0">
              <a:solidFill>
                <a:schemeClr val="accent1"/>
              </a:solidFill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188700" y="2128905"/>
            <a:ext cx="7309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Automatidata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colabora con la Comisión de Taxis y Limusinas de Nueva York (TLC) para desarrollar un modelo de regresión que </a:t>
            </a:r>
            <a:r>
              <a:rPr lang="es-E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prediga el importe de la tarifa antes del trayecto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 El proyecto utiliza datos históricos de viajes para </a:t>
            </a:r>
            <a:r>
              <a:rPr lang="es-E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mejorar la transparencia, optimizar la planificación operativa y apoyar la toma de decisiones estratégicas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4073411" y="4138933"/>
            <a:ext cx="3439363" cy="18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En esta fase inicial, el equipo inspecciona y organiza el conjunto de datos de TLC. Se revisan tipos de datos (</a:t>
            </a:r>
            <a:r>
              <a:rPr lang="es-ES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Dtypes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), valores no nulos y columnas relevantes. Se detectan anomalías y se proponen variables derivadas para análisis futuros.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00518"/>
            <a:ext cx="6309082" cy="692994"/>
            <a:chOff x="188700" y="665125"/>
            <a:chExt cx="5190000" cy="894394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Contexto y objetivo de análisis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159319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Proyecto </a:t>
              </a:r>
              <a:r>
                <a:rPr lang="es-ES" dirty="0" err="1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Automatidata</a:t>
              </a: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 – Datos de TLC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2" name="Google Shape;423;p17">
            <a:extLst>
              <a:ext uri="{FF2B5EF4-FFF2-40B4-BE49-F238E27FC236}">
                <a16:creationId xmlns:a16="http://schemas.microsoft.com/office/drawing/2014/main" id="{D1CF4D0C-2243-5F25-FAC2-B4630BBB61F1}"/>
              </a:ext>
            </a:extLst>
          </p:cNvPr>
          <p:cNvSpPr txBox="1"/>
          <p:nvPr/>
        </p:nvSpPr>
        <p:spPr>
          <a:xfrm>
            <a:off x="188700" y="4106085"/>
            <a:ext cx="3357966" cy="18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Los datos son amplios y útiles, pero requieren </a:t>
            </a:r>
            <a:r>
              <a:rPr lang="es-E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limpieza y estandarización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 Se identifican oportunidades para enriquecer el modelo con variables </a:t>
            </a:r>
            <a:r>
              <a:rPr lang="es-E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temporales y geográficas</a:t>
            </a:r>
            <a:r>
              <a:rPr lang="es-ES" sz="1400" dirty="0"/>
              <a:t>.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sp>
        <p:nvSpPr>
          <p:cNvPr id="3" name="Google Shape;423;p17">
            <a:extLst>
              <a:ext uri="{FF2B5EF4-FFF2-40B4-BE49-F238E27FC236}">
                <a16:creationId xmlns:a16="http://schemas.microsoft.com/office/drawing/2014/main" id="{DCB81C3B-E28A-28D1-9624-53388199018A}"/>
              </a:ext>
            </a:extLst>
          </p:cNvPr>
          <p:cNvSpPr txBox="1"/>
          <p:nvPr/>
        </p:nvSpPr>
        <p:spPr>
          <a:xfrm>
            <a:off x="4073411" y="6517620"/>
            <a:ext cx="3445705" cy="18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Completar la limpieza del 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Realizar un análisis exploratorio completo (EDA). </a:t>
            </a:r>
          </a:p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Desarrollar y validar el modelo de regresión. </a:t>
            </a:r>
          </a:p>
          <a:p>
            <a:pPr lvl="0">
              <a:lnSpc>
                <a:spcPct val="105000"/>
              </a:lnSpc>
            </a:pP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Preparar visualizaciones y presentación final para TLC.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3AF054-B231-EFB0-3822-F1BDEC8D6105}"/>
              </a:ext>
            </a:extLst>
          </p:cNvPr>
          <p:cNvSpPr txBox="1"/>
          <p:nvPr/>
        </p:nvSpPr>
        <p:spPr>
          <a:xfrm>
            <a:off x="94350" y="9102402"/>
            <a:ext cx="3584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Mapa de ubicaciones de recogida y destino en Nueva York</a:t>
            </a:r>
            <a:r>
              <a:rPr lang="es-ES" sz="1200" dirty="0">
                <a:latin typeface="Segoe UI" panose="020B0502040204020203" pitchFamily="34" charset="0"/>
                <a:cs typeface="Segoe UI" panose="020B0502040204020203" pitchFamily="34" charset="0"/>
              </a:rPr>
              <a:t>, mostrando la distribución espacial de los viajes.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97BA53-987D-E4C9-7C9A-20251F8D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0" y="6517620"/>
            <a:ext cx="3805794" cy="2584782"/>
          </a:xfrm>
          <a:prstGeom prst="rect">
            <a:avLst/>
          </a:prstGeom>
        </p:spPr>
      </p:pic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678A0206-E734-F6E7-60C0-DD0DD771AE12}"/>
              </a:ext>
            </a:extLst>
          </p:cNvPr>
          <p:cNvSpPr txBox="1"/>
          <p:nvPr/>
        </p:nvSpPr>
        <p:spPr>
          <a:xfrm>
            <a:off x="188700" y="3715378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Conclusiones clave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9" name="Google Shape;420;p17">
            <a:extLst>
              <a:ext uri="{FF2B5EF4-FFF2-40B4-BE49-F238E27FC236}">
                <a16:creationId xmlns:a16="http://schemas.microsoft.com/office/drawing/2014/main" id="{692162FF-82FF-BA48-C1C3-3050F6368FF6}"/>
              </a:ext>
            </a:extLst>
          </p:cNvPr>
          <p:cNvSpPr txBox="1"/>
          <p:nvPr/>
        </p:nvSpPr>
        <p:spPr>
          <a:xfrm>
            <a:off x="4079751" y="3715378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Detalles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310832FE-6815-10CE-B537-C6D74BF6FBE6}"/>
              </a:ext>
            </a:extLst>
          </p:cNvPr>
          <p:cNvSpPr txBox="1"/>
          <p:nvPr/>
        </p:nvSpPr>
        <p:spPr>
          <a:xfrm>
            <a:off x="4079752" y="5952314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Próximos pasos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18"/>
          <p:cNvGrpSpPr/>
          <p:nvPr/>
        </p:nvGrpSpPr>
        <p:grpSpPr>
          <a:xfrm>
            <a:off x="176650" y="612220"/>
            <a:ext cx="6410838" cy="771300"/>
            <a:chOff x="188700" y="1145670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1145670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Análisis inicial de los datos</a:t>
              </a:r>
              <a:endParaRPr sz="2800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507349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Inspección y detección de incidencias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2" name="Google Shape;423;p17">
            <a:extLst>
              <a:ext uri="{FF2B5EF4-FFF2-40B4-BE49-F238E27FC236}">
                <a16:creationId xmlns:a16="http://schemas.microsoft.com/office/drawing/2014/main" id="{EB3AC558-F074-1F3D-55D7-26BD090DF3A7}"/>
              </a:ext>
            </a:extLst>
          </p:cNvPr>
          <p:cNvSpPr txBox="1"/>
          <p:nvPr/>
        </p:nvSpPr>
        <p:spPr>
          <a:xfrm>
            <a:off x="245679" y="2737818"/>
            <a:ext cx="2400539" cy="244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Segoe UI" panose="020B0502040204020203" pitchFamily="34" charset="0"/>
                <a:ea typeface="Lato"/>
                <a:cs typeface="Segoe UI" panose="020B0502040204020203" pitchFamily="34" charset="0"/>
                <a:sym typeface="Lato"/>
              </a:rPr>
              <a:t>Se detectaron valores nulos y tipos de datos </a:t>
            </a:r>
            <a:r>
              <a:rPr lang="es-ES" sz="1400" dirty="0" err="1">
                <a:latin typeface="Segoe UI" panose="020B0502040204020203" pitchFamily="34" charset="0"/>
                <a:ea typeface="Lato"/>
                <a:cs typeface="Segoe UI" panose="020B0502040204020203" pitchFamily="34" charset="0"/>
                <a:sym typeface="Lato"/>
              </a:rPr>
              <a:t>incorrectos.Existen</a:t>
            </a:r>
            <a:r>
              <a:rPr lang="es-ES" sz="1400" dirty="0">
                <a:latin typeface="Segoe UI" panose="020B0502040204020203" pitchFamily="34" charset="0"/>
                <a:ea typeface="Lato"/>
                <a:cs typeface="Segoe UI" panose="020B0502040204020203" pitchFamily="34" charset="0"/>
                <a:sym typeface="Lato"/>
              </a:rPr>
              <a:t> tarifas negativas o iguales a 0 en viajes con distancia significativa. Algunas duraciones de viaje son inconsistentes o imposibles.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57D78C-0D95-F112-4BE0-FD7E813782AE}"/>
              </a:ext>
            </a:extLst>
          </p:cNvPr>
          <p:cNvSpPr txBox="1"/>
          <p:nvPr/>
        </p:nvSpPr>
        <p:spPr>
          <a:xfrm>
            <a:off x="273388" y="6678443"/>
            <a:ext cx="25804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Se aplicarán filtros y conversiones para corregir tipos de datos. Se eliminarán registros con valores imposibles y se documentarán los criterios de limpieza.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4FB363-1189-0C06-F1FA-06508991C91E}"/>
              </a:ext>
            </a:extLst>
          </p:cNvPr>
          <p:cNvSpPr txBox="1"/>
          <p:nvPr/>
        </p:nvSpPr>
        <p:spPr>
          <a:xfrm>
            <a:off x="3552087" y="6678443"/>
            <a:ext cx="38185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La calidad de los datos afecta directamente la precisión del modelo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predictivo.Una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limpieza adecuada garantizará resultados más fiables y reproducibles.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D79E64B-4FD8-894B-7E18-89F16E99E742}"/>
              </a:ext>
            </a:extLst>
          </p:cNvPr>
          <p:cNvSpPr txBox="1"/>
          <p:nvPr/>
        </p:nvSpPr>
        <p:spPr>
          <a:xfrm>
            <a:off x="245679" y="9032405"/>
            <a:ext cx="5687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La inspección inicial confirma que el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es valioso, pero requiere un proceso riguroso de depuración antes del modelado.</a:t>
            </a:r>
          </a:p>
        </p:txBody>
      </p:sp>
      <p:pic>
        <p:nvPicPr>
          <p:cNvPr id="30" name="Marcador de posición de imagen 29">
            <a:extLst>
              <a:ext uri="{FF2B5EF4-FFF2-40B4-BE49-F238E27FC236}">
                <a16:creationId xmlns:a16="http://schemas.microsoft.com/office/drawing/2014/main" id="{A25777EA-8554-F80E-8BEC-93D8E9B3A5E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8599" r="18599"/>
          <a:stretch>
            <a:fillRect/>
          </a:stretch>
        </p:blipFill>
        <p:spPr>
          <a:xfrm>
            <a:off x="2973824" y="1473361"/>
            <a:ext cx="4628115" cy="380522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1051891C-CCA5-5286-B9B1-DBFE31210036}"/>
              </a:ext>
            </a:extLst>
          </p:cNvPr>
          <p:cNvSpPr txBox="1"/>
          <p:nvPr/>
        </p:nvSpPr>
        <p:spPr>
          <a:xfrm>
            <a:off x="2915935" y="5477112"/>
            <a:ext cx="46281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Distribución de importes totales por viaje, utilizada para identificar valores extremos y posibles errores.</a:t>
            </a:r>
          </a:p>
        </p:txBody>
      </p:sp>
      <p:sp>
        <p:nvSpPr>
          <p:cNvPr id="3" name="Google Shape;420;p17">
            <a:extLst>
              <a:ext uri="{FF2B5EF4-FFF2-40B4-BE49-F238E27FC236}">
                <a16:creationId xmlns:a16="http://schemas.microsoft.com/office/drawing/2014/main" id="{B1CD2D34-008E-5D93-B094-E568ABD524E6}"/>
              </a:ext>
            </a:extLst>
          </p:cNvPr>
          <p:cNvSpPr txBox="1"/>
          <p:nvPr/>
        </p:nvSpPr>
        <p:spPr>
          <a:xfrm>
            <a:off x="273387" y="2303306"/>
            <a:ext cx="2580406" cy="338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Problema / Incidencia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5" name="Google Shape;420;p17">
            <a:extLst>
              <a:ext uri="{FF2B5EF4-FFF2-40B4-BE49-F238E27FC236}">
                <a16:creationId xmlns:a16="http://schemas.microsoft.com/office/drawing/2014/main" id="{97EF0147-E177-9DD7-DEBA-0688182DCCE9}"/>
              </a:ext>
            </a:extLst>
          </p:cNvPr>
          <p:cNvSpPr txBox="1"/>
          <p:nvPr/>
        </p:nvSpPr>
        <p:spPr>
          <a:xfrm>
            <a:off x="273387" y="8571812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Conclusiones clave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7" name="Google Shape;420;p17">
            <a:extLst>
              <a:ext uri="{FF2B5EF4-FFF2-40B4-BE49-F238E27FC236}">
                <a16:creationId xmlns:a16="http://schemas.microsoft.com/office/drawing/2014/main" id="{BDBBE0F0-B3E8-0EB1-E1D8-5C109E3EE3D1}"/>
              </a:ext>
            </a:extLst>
          </p:cNvPr>
          <p:cNvSpPr txBox="1"/>
          <p:nvPr/>
        </p:nvSpPr>
        <p:spPr>
          <a:xfrm>
            <a:off x="3552087" y="6249636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Impacto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9" name="Google Shape;420;p17">
            <a:extLst>
              <a:ext uri="{FF2B5EF4-FFF2-40B4-BE49-F238E27FC236}">
                <a16:creationId xmlns:a16="http://schemas.microsoft.com/office/drawing/2014/main" id="{A7EB0AF3-9EB0-024B-A41D-84D6594A3A61}"/>
              </a:ext>
            </a:extLst>
          </p:cNvPr>
          <p:cNvSpPr txBox="1"/>
          <p:nvPr/>
        </p:nvSpPr>
        <p:spPr>
          <a:xfrm>
            <a:off x="273387" y="6249636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Respuesta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1A500012-B9ED-C2B3-D993-3561B39223C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907" r="4907"/>
          <a:stretch>
            <a:fillRect/>
          </a:stretch>
        </p:blipFill>
        <p:spPr>
          <a:xfrm>
            <a:off x="1129251" y="5882803"/>
            <a:ext cx="5659005" cy="369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43" name="Google Shape;443;p19"/>
          <p:cNvSpPr txBox="1"/>
          <p:nvPr/>
        </p:nvSpPr>
        <p:spPr>
          <a:xfrm>
            <a:off x="984144" y="9574403"/>
            <a:ext cx="6683157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000" dirty="0"/>
              <a:t>Relación inicial entre distancia y tarifa, donde se observan viajes con valores inconsistentes.</a:t>
            </a:r>
            <a:endParaRPr sz="1000" dirty="0">
              <a:solidFill>
                <a:srgbClr val="000000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699" y="665125"/>
            <a:ext cx="6320377" cy="785850"/>
            <a:chOff x="188699" y="665125"/>
            <a:chExt cx="6320377" cy="78585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699" y="665125"/>
              <a:ext cx="6320377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Evaluación de calidad y consistencia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699" y="1050775"/>
              <a:ext cx="6101264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Resultados de la revisión de datos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3023B5BB-9A97-AEBC-A090-4B47AFCDDBF3}"/>
              </a:ext>
            </a:extLst>
          </p:cNvPr>
          <p:cNvSpPr txBox="1"/>
          <p:nvPr/>
        </p:nvSpPr>
        <p:spPr>
          <a:xfrm>
            <a:off x="188699" y="2546050"/>
            <a:ext cx="28870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Inconsistencias en columnas de tiempo y distancia.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Registros duplicados y valores fuera de rango.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F05E59-D61C-CE3D-5DB2-1594AD9393E9}"/>
              </a:ext>
            </a:extLst>
          </p:cNvPr>
          <p:cNvSpPr txBox="1"/>
          <p:nvPr/>
        </p:nvSpPr>
        <p:spPr>
          <a:xfrm>
            <a:off x="3336877" y="2541142"/>
            <a:ext cx="38896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Se aplicarán funciones de validación y eliminación de duplicados.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Se normalizarán las unidades de medida y formatos de fecha/hora.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051744-834B-888D-9991-01268625D94C}"/>
              </a:ext>
            </a:extLst>
          </p:cNvPr>
          <p:cNvSpPr txBox="1"/>
          <p:nvPr/>
        </p:nvSpPr>
        <p:spPr>
          <a:xfrm>
            <a:off x="188699" y="4884457"/>
            <a:ext cx="2887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Mejora la integridad del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y reduce el sesgo en el modelo.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6787-101E-6CF6-A5AE-EB8412A5B26C}"/>
              </a:ext>
            </a:extLst>
          </p:cNvPr>
          <p:cNvSpPr txBox="1"/>
          <p:nvPr/>
        </p:nvSpPr>
        <p:spPr>
          <a:xfrm>
            <a:off x="3347854" y="4884457"/>
            <a:ext cx="38896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Tras la limpieza, el conjunto de datos estará listo para el análisis exploratorio y la creación de variables derivadas.</a:t>
            </a:r>
          </a:p>
        </p:txBody>
      </p:sp>
      <p:sp>
        <p:nvSpPr>
          <p:cNvPr id="2" name="Google Shape;420;p17">
            <a:extLst>
              <a:ext uri="{FF2B5EF4-FFF2-40B4-BE49-F238E27FC236}">
                <a16:creationId xmlns:a16="http://schemas.microsoft.com/office/drawing/2014/main" id="{40761AB9-D223-E0DC-20F8-75C84B617EFD}"/>
              </a:ext>
            </a:extLst>
          </p:cNvPr>
          <p:cNvSpPr txBox="1"/>
          <p:nvPr/>
        </p:nvSpPr>
        <p:spPr>
          <a:xfrm>
            <a:off x="3348887" y="4430836"/>
            <a:ext cx="2725097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Conclusiones clave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6" name="Google Shape;420;p17">
            <a:extLst>
              <a:ext uri="{FF2B5EF4-FFF2-40B4-BE49-F238E27FC236}">
                <a16:creationId xmlns:a16="http://schemas.microsoft.com/office/drawing/2014/main" id="{76407B82-68A2-615B-0E63-F36F71ADF331}"/>
              </a:ext>
            </a:extLst>
          </p:cNvPr>
          <p:cNvSpPr txBox="1"/>
          <p:nvPr/>
        </p:nvSpPr>
        <p:spPr>
          <a:xfrm>
            <a:off x="188700" y="1980492"/>
            <a:ext cx="2725097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Problema / Incidencia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5A001152-7452-1648-B1ED-26A8B3BA1732}"/>
              </a:ext>
            </a:extLst>
          </p:cNvPr>
          <p:cNvSpPr txBox="1"/>
          <p:nvPr/>
        </p:nvSpPr>
        <p:spPr>
          <a:xfrm>
            <a:off x="3347854" y="1975436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Respuesta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690769B5-57AE-E224-A76A-358EF380A94E}"/>
              </a:ext>
            </a:extLst>
          </p:cNvPr>
          <p:cNvSpPr txBox="1"/>
          <p:nvPr/>
        </p:nvSpPr>
        <p:spPr>
          <a:xfrm>
            <a:off x="188699" y="4450022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Impacto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3;p19">
            <a:extLst>
              <a:ext uri="{FF2B5EF4-FFF2-40B4-BE49-F238E27FC236}">
                <a16:creationId xmlns:a16="http://schemas.microsoft.com/office/drawing/2014/main" id="{7DFC65CA-2719-B5EE-B933-D2D617C178EC}"/>
              </a:ext>
            </a:extLst>
          </p:cNvPr>
          <p:cNvSpPr txBox="1"/>
          <p:nvPr/>
        </p:nvSpPr>
        <p:spPr>
          <a:xfrm>
            <a:off x="188697" y="8958239"/>
            <a:ext cx="2490066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Comparación de tarifas por tipo de pago (1 = Tarjeta, 2 = Efectivo)</a:t>
            </a:r>
            <a:endParaRPr sz="10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grpSp>
        <p:nvGrpSpPr>
          <p:cNvPr id="5" name="Google Shape;444;p19">
            <a:extLst>
              <a:ext uri="{FF2B5EF4-FFF2-40B4-BE49-F238E27FC236}">
                <a16:creationId xmlns:a16="http://schemas.microsoft.com/office/drawing/2014/main" id="{0B6FE782-DE02-AB60-2BB3-CFBD52AF7F70}"/>
              </a:ext>
            </a:extLst>
          </p:cNvPr>
          <p:cNvGrpSpPr/>
          <p:nvPr/>
        </p:nvGrpSpPr>
        <p:grpSpPr>
          <a:xfrm>
            <a:off x="188700" y="709455"/>
            <a:ext cx="5190000" cy="835619"/>
            <a:chOff x="188700" y="709455"/>
            <a:chExt cx="5190000" cy="835619"/>
          </a:xfrm>
        </p:grpSpPr>
        <p:sp>
          <p:nvSpPr>
            <p:cNvPr id="6" name="Google Shape;445;p19">
              <a:extLst>
                <a:ext uri="{FF2B5EF4-FFF2-40B4-BE49-F238E27FC236}">
                  <a16:creationId xmlns:a16="http://schemas.microsoft.com/office/drawing/2014/main" id="{07308380-320E-6D1A-A90A-FF57909E5F15}"/>
                </a:ext>
              </a:extLst>
            </p:cNvPr>
            <p:cNvSpPr txBox="1"/>
            <p:nvPr/>
          </p:nvSpPr>
          <p:spPr>
            <a:xfrm>
              <a:off x="188700" y="70945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Análisis estadístico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7" name="Google Shape;446;p19">
              <a:extLst>
                <a:ext uri="{FF2B5EF4-FFF2-40B4-BE49-F238E27FC236}">
                  <a16:creationId xmlns:a16="http://schemas.microsoft.com/office/drawing/2014/main" id="{EFD8199C-A8B3-00F1-9B9A-8048156FF64D}"/>
                </a:ext>
              </a:extLst>
            </p:cNvPr>
            <p:cNvSpPr txBox="1"/>
            <p:nvPr/>
          </p:nvSpPr>
          <p:spPr>
            <a:xfrm>
              <a:off x="188700" y="1144874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Prueba A/B sobre tipo de pagos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377594D7-BF81-E90F-136F-9490A98574F3}"/>
              </a:ext>
            </a:extLst>
          </p:cNvPr>
          <p:cNvSpPr txBox="1"/>
          <p:nvPr/>
        </p:nvSpPr>
        <p:spPr>
          <a:xfrm>
            <a:off x="188697" y="2586273"/>
            <a:ext cx="260888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Objetivo del análisis</a:t>
            </a:r>
          </a:p>
          <a:p>
            <a:r>
              <a:rPr lang="es-ES" sz="1400" dirty="0"/>
              <a:t>Evaluar si el tipo de pago (tarjeta vs efectivo) influye en el importe de la tarifa.</a:t>
            </a:r>
          </a:p>
          <a:p>
            <a:r>
              <a:rPr lang="es-ES" sz="1400" b="1" dirty="0"/>
              <a:t>Método aplicado</a:t>
            </a:r>
            <a:r>
              <a:rPr lang="es-ES" sz="1400" dirty="0"/>
              <a:t> </a:t>
            </a:r>
          </a:p>
          <a:p>
            <a:r>
              <a:rPr lang="es-ES" sz="1400" dirty="0"/>
              <a:t>Prueba t de dos muestras independientes con Python y </a:t>
            </a:r>
            <a:r>
              <a:rPr lang="es-ES" sz="1400" dirty="0" err="1"/>
              <a:t>SciPy</a:t>
            </a:r>
            <a:r>
              <a:rPr lang="es-ES" sz="1400" dirty="0"/>
              <a:t>.</a:t>
            </a:r>
          </a:p>
          <a:p>
            <a:r>
              <a:rPr lang="es-ES" sz="1400" b="1" dirty="0"/>
              <a:t>Hipótesis: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H₀: No existe diferencia significativa entre las tarifas medias.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H₁: Sí existe diferencia significativa.</a:t>
            </a:r>
          </a:p>
          <a:p>
            <a:r>
              <a:rPr lang="es-ES" sz="1400" b="1" dirty="0"/>
              <a:t>Resultado:</a:t>
            </a:r>
            <a:r>
              <a:rPr lang="es-ES" sz="1400" dirty="0"/>
              <a:t> Valor p &lt; 0.05 → diferencia estadísticamente significativa. Los pagos con tarjeta tienden a ser más altos.</a:t>
            </a:r>
          </a:p>
          <a:p>
            <a:endParaRPr lang="es-E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5C3984E-F803-0284-9CE2-42990240AEF5}"/>
              </a:ext>
            </a:extLst>
          </p:cNvPr>
          <p:cNvSpPr txBox="1"/>
          <p:nvPr/>
        </p:nvSpPr>
        <p:spPr>
          <a:xfrm>
            <a:off x="3574473" y="2586273"/>
            <a:ext cx="400819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El </a:t>
            </a:r>
            <a:r>
              <a:rPr lang="es-ES" sz="1400" dirty="0" err="1"/>
              <a:t>boxplot</a:t>
            </a:r>
            <a:r>
              <a:rPr lang="es-ES" sz="1400" dirty="0"/>
              <a:t> muestra mayor dispersión y valores extremos en los pagos con tarjeta.</a:t>
            </a:r>
          </a:p>
          <a:p>
            <a:r>
              <a:rPr lang="es-ES" sz="1400" b="1" dirty="0"/>
              <a:t>Implicaciones para el negocio:</a:t>
            </a:r>
            <a:endParaRPr lang="es-ES" sz="1400" dirty="0"/>
          </a:p>
          <a:p>
            <a:r>
              <a:rPr lang="es-ES" sz="1400" dirty="0"/>
              <a:t>Incentivar el uso de tarjeta para aumentar ingresos.</a:t>
            </a:r>
          </a:p>
          <a:p>
            <a:r>
              <a:rPr lang="es-ES" sz="1400" dirty="0"/>
              <a:t>Analizar diferencias por horario o zona.</a:t>
            </a:r>
          </a:p>
          <a:p>
            <a:r>
              <a:rPr lang="es-ES" sz="1400" dirty="0"/>
              <a:t>Validar resultados con nuevos datos experimentales.</a:t>
            </a:r>
          </a:p>
          <a:p>
            <a:r>
              <a:rPr lang="es-ES" sz="1400" b="1" dirty="0"/>
              <a:t>Herramientas utilizadas:</a:t>
            </a:r>
            <a:r>
              <a:rPr lang="es-ES" sz="1400" dirty="0"/>
              <a:t> Python (pandas, </a:t>
            </a:r>
            <a:r>
              <a:rPr lang="es-ES" sz="1400" dirty="0" err="1"/>
              <a:t>SciPy</a:t>
            </a:r>
            <a:r>
              <a:rPr lang="es-ES" sz="1400" dirty="0"/>
              <a:t>, </a:t>
            </a:r>
            <a:r>
              <a:rPr lang="es-ES" sz="1400" dirty="0" err="1"/>
              <a:t>matplotlib</a:t>
            </a:r>
            <a:r>
              <a:rPr lang="es-ES" sz="1400" dirty="0"/>
              <a:t>) y </a:t>
            </a:r>
            <a:r>
              <a:rPr lang="es-ES" sz="1400" dirty="0" err="1"/>
              <a:t>Tableau</a:t>
            </a:r>
            <a:r>
              <a:rPr lang="es-ES" sz="1400" dirty="0"/>
              <a:t>.</a:t>
            </a:r>
          </a:p>
          <a:p>
            <a:endParaRPr lang="es-E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Google Shape;420;p17">
            <a:extLst>
              <a:ext uri="{FF2B5EF4-FFF2-40B4-BE49-F238E27FC236}">
                <a16:creationId xmlns:a16="http://schemas.microsoft.com/office/drawing/2014/main" id="{3941D61D-A75C-76E4-6D9C-DBC1C899A4C6}"/>
              </a:ext>
            </a:extLst>
          </p:cNvPr>
          <p:cNvSpPr txBox="1"/>
          <p:nvPr/>
        </p:nvSpPr>
        <p:spPr>
          <a:xfrm>
            <a:off x="188697" y="2112535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Objetivo y método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7" name="Google Shape;420;p17">
            <a:extLst>
              <a:ext uri="{FF2B5EF4-FFF2-40B4-BE49-F238E27FC236}">
                <a16:creationId xmlns:a16="http://schemas.microsoft.com/office/drawing/2014/main" id="{B6D333A5-BE02-AC54-AED4-14C25BBAD241}"/>
              </a:ext>
            </a:extLst>
          </p:cNvPr>
          <p:cNvSpPr txBox="1"/>
          <p:nvPr/>
        </p:nvSpPr>
        <p:spPr>
          <a:xfrm>
            <a:off x="3574473" y="2112535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Visualización y conclusiones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06373B4-6456-C935-7581-2D3956DF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753" y="5622903"/>
            <a:ext cx="4778917" cy="372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4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>
          <a:extLst>
            <a:ext uri="{FF2B5EF4-FFF2-40B4-BE49-F238E27FC236}">
              <a16:creationId xmlns:a16="http://schemas.microsoft.com/office/drawing/2014/main" id="{EAFAEB7D-E0FF-57F9-A6FA-71DDFC49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>
            <a:extLst>
              <a:ext uri="{FF2B5EF4-FFF2-40B4-BE49-F238E27FC236}">
                <a16:creationId xmlns:a16="http://schemas.microsoft.com/office/drawing/2014/main" id="{01090BB8-AA0D-07CB-BA69-1811B38EC72B}"/>
              </a:ext>
            </a:extLst>
          </p:cNvPr>
          <p:cNvSpPr txBox="1"/>
          <p:nvPr/>
        </p:nvSpPr>
        <p:spPr>
          <a:xfrm>
            <a:off x="188700" y="1757463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5000"/>
              </a:lnSpc>
              <a:buSzPts val="853"/>
            </a:pPr>
            <a:r>
              <a:rPr lang="es-ES" sz="1600" b="1" dirty="0"/>
              <a:t>Objetivo del análisis</a:t>
            </a:r>
            <a:r>
              <a:rPr lang="es-ES" sz="1600" dirty="0"/>
              <a:t> </a:t>
            </a:r>
            <a:endParaRPr sz="1600" b="1" dirty="0">
              <a:solidFill>
                <a:schemeClr val="accent1"/>
              </a:solidFill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421" name="Google Shape;421;p17">
            <a:extLst>
              <a:ext uri="{FF2B5EF4-FFF2-40B4-BE49-F238E27FC236}">
                <a16:creationId xmlns:a16="http://schemas.microsoft.com/office/drawing/2014/main" id="{3F846076-5D65-55D7-6D5A-E0E3FD290F64}"/>
              </a:ext>
            </a:extLst>
          </p:cNvPr>
          <p:cNvSpPr txBox="1"/>
          <p:nvPr/>
        </p:nvSpPr>
        <p:spPr>
          <a:xfrm>
            <a:off x="188700" y="2063116"/>
            <a:ext cx="3805794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1400" dirty="0"/>
              <a:t>Evaluar el rendimiento del modelo de regresión lineal múltiple (MLR) para predecir tarifas de taxi en NYC.</a:t>
            </a:r>
            <a:endParaRPr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3" name="Google Shape;423;p17">
            <a:extLst>
              <a:ext uri="{FF2B5EF4-FFF2-40B4-BE49-F238E27FC236}">
                <a16:creationId xmlns:a16="http://schemas.microsoft.com/office/drawing/2014/main" id="{D9062F6F-DD75-640C-DB1E-C46C77618D42}"/>
              </a:ext>
            </a:extLst>
          </p:cNvPr>
          <p:cNvSpPr txBox="1"/>
          <p:nvPr/>
        </p:nvSpPr>
        <p:spPr>
          <a:xfrm>
            <a:off x="4203508" y="2063116"/>
            <a:ext cx="3150246" cy="83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/>
              <a:t>• MAE = 1.74 USD</a:t>
            </a:r>
          </a:p>
          <a:p>
            <a:pPr lvl="0">
              <a:lnSpc>
                <a:spcPct val="105000"/>
              </a:lnSpc>
            </a:pPr>
            <a:r>
              <a:rPr lang="es-ES" sz="1400" dirty="0"/>
              <a:t>• RMSE = 3.25 USD</a:t>
            </a:r>
          </a:p>
          <a:p>
            <a:pPr lvl="0">
              <a:lnSpc>
                <a:spcPct val="105000"/>
              </a:lnSpc>
            </a:pPr>
            <a:r>
              <a:rPr lang="es-ES" sz="1400" dirty="0"/>
              <a:t>• R² = 0.903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grpSp>
        <p:nvGrpSpPr>
          <p:cNvPr id="424" name="Google Shape;424;p17">
            <a:extLst>
              <a:ext uri="{FF2B5EF4-FFF2-40B4-BE49-F238E27FC236}">
                <a16:creationId xmlns:a16="http://schemas.microsoft.com/office/drawing/2014/main" id="{02BFE414-94D2-7F73-AA7D-4AC15656E91D}"/>
              </a:ext>
            </a:extLst>
          </p:cNvPr>
          <p:cNvGrpSpPr/>
          <p:nvPr/>
        </p:nvGrpSpPr>
        <p:grpSpPr>
          <a:xfrm>
            <a:off x="188700" y="600518"/>
            <a:ext cx="6309082" cy="810653"/>
            <a:chOff x="188700" y="665125"/>
            <a:chExt cx="5190000" cy="1046248"/>
          </a:xfrm>
        </p:grpSpPr>
        <p:sp>
          <p:nvSpPr>
            <p:cNvPr id="425" name="Google Shape;425;p17">
              <a:extLst>
                <a:ext uri="{FF2B5EF4-FFF2-40B4-BE49-F238E27FC236}">
                  <a16:creationId xmlns:a16="http://schemas.microsoft.com/office/drawing/2014/main" id="{ACCE39E7-E061-F576-4FC4-45B923CA2EC6}"/>
                </a:ext>
              </a:extLst>
            </p:cNvPr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Resultados del modelo de regresión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26" name="Google Shape;426;p17">
              <a:extLst>
                <a:ext uri="{FF2B5EF4-FFF2-40B4-BE49-F238E27FC236}">
                  <a16:creationId xmlns:a16="http://schemas.microsoft.com/office/drawing/2014/main" id="{12BC5A38-E545-E158-9188-CF2843C39980}"/>
                </a:ext>
              </a:extLst>
            </p:cNvPr>
            <p:cNvSpPr txBox="1"/>
            <p:nvPr/>
          </p:nvSpPr>
          <p:spPr>
            <a:xfrm>
              <a:off x="188700" y="1159319"/>
              <a:ext cx="5190000" cy="552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Predicción de tarifas mediante modelo de regresión lineal múltiple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2" name="Google Shape;423;p17">
            <a:extLst>
              <a:ext uri="{FF2B5EF4-FFF2-40B4-BE49-F238E27FC236}">
                <a16:creationId xmlns:a16="http://schemas.microsoft.com/office/drawing/2014/main" id="{E841FB45-7528-4225-5586-4ACDB4C8DEF8}"/>
              </a:ext>
            </a:extLst>
          </p:cNvPr>
          <p:cNvSpPr txBox="1"/>
          <p:nvPr/>
        </p:nvSpPr>
        <p:spPr>
          <a:xfrm>
            <a:off x="196280" y="3356927"/>
            <a:ext cx="3798214" cy="18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/>
              <a:t>• El modelo explica más del 90 % de la variabilidad de las tarifas. • Los errores medios son bajos, lo que indica alta precisión. • La distancia del viaje es el factor más determinante, seguida por la duración. • Los residuos se distribuyen de forma simétrica alrededor de 0, confirmando ausencia de sesgo.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sp>
        <p:nvSpPr>
          <p:cNvPr id="3" name="Google Shape;423;p17">
            <a:extLst>
              <a:ext uri="{FF2B5EF4-FFF2-40B4-BE49-F238E27FC236}">
                <a16:creationId xmlns:a16="http://schemas.microsoft.com/office/drawing/2014/main" id="{8E5E314D-4175-6044-6299-E7475362FF36}"/>
              </a:ext>
            </a:extLst>
          </p:cNvPr>
          <p:cNvSpPr txBox="1"/>
          <p:nvPr/>
        </p:nvSpPr>
        <p:spPr>
          <a:xfrm>
            <a:off x="4203508" y="3324990"/>
            <a:ext cx="3229754" cy="18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s-ES" sz="1400" dirty="0"/>
              <a:t>• Predicciones fiables para estimar tarifas antes del viaje.</a:t>
            </a:r>
          </a:p>
          <a:p>
            <a:pPr lvl="0">
              <a:lnSpc>
                <a:spcPct val="105000"/>
              </a:lnSpc>
            </a:pPr>
            <a:r>
              <a:rPr lang="es-ES" sz="1400" dirty="0"/>
              <a:t>• Apoyo a la planificación operativa y decisiones estratégicas de la TLC.</a:t>
            </a:r>
          </a:p>
          <a:p>
            <a:pPr lvl="0">
              <a:lnSpc>
                <a:spcPct val="105000"/>
              </a:lnSpc>
            </a:pPr>
            <a:r>
              <a:rPr lang="es-ES" sz="1400" dirty="0"/>
              <a:t>• Posibilidad de integrar el modelo en sistemas de transparencia y optimización de rutas.</a:t>
            </a:r>
            <a:endParaRPr sz="1400" dirty="0">
              <a:solidFill>
                <a:srgbClr val="000000"/>
              </a:solidFill>
              <a:latin typeface="Segoe UI" panose="020B0502040204020203" pitchFamily="34" charset="0"/>
              <a:ea typeface="Lato"/>
              <a:cs typeface="Segoe UI" panose="020B0502040204020203" pitchFamily="34" charset="0"/>
              <a:sym typeface="Lato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A2AA8F-A6FA-5D3B-AD9D-0B275E997516}"/>
              </a:ext>
            </a:extLst>
          </p:cNvPr>
          <p:cNvSpPr txBox="1"/>
          <p:nvPr/>
        </p:nvSpPr>
        <p:spPr>
          <a:xfrm>
            <a:off x="41525" y="7619378"/>
            <a:ext cx="16644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Las predicciones del modelo se alinean estrechamente con las tarifas reales, confirmando alta precisión.</a:t>
            </a:r>
            <a:endParaRPr lang="es-E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560E779C-8156-F4DC-92AE-1BDA7C3F76C8}"/>
              </a:ext>
            </a:extLst>
          </p:cNvPr>
          <p:cNvSpPr txBox="1"/>
          <p:nvPr/>
        </p:nvSpPr>
        <p:spPr>
          <a:xfrm>
            <a:off x="196280" y="2930488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5000"/>
              </a:lnSpc>
              <a:buSzPts val="853"/>
            </a:pPr>
            <a:r>
              <a:rPr lang="es-ES" sz="1600" b="1" dirty="0"/>
              <a:t>Conclusiones principales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9" name="Google Shape;420;p17">
            <a:extLst>
              <a:ext uri="{FF2B5EF4-FFF2-40B4-BE49-F238E27FC236}">
                <a16:creationId xmlns:a16="http://schemas.microsoft.com/office/drawing/2014/main" id="{E68605B3-CB42-8090-1AD1-6957725BF2EC}"/>
              </a:ext>
            </a:extLst>
          </p:cNvPr>
          <p:cNvSpPr txBox="1"/>
          <p:nvPr/>
        </p:nvSpPr>
        <p:spPr>
          <a:xfrm>
            <a:off x="4203508" y="1751347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5000"/>
              </a:lnSpc>
              <a:buSzPts val="853"/>
            </a:pPr>
            <a:r>
              <a:rPr lang="es-ES" sz="1600" b="1" dirty="0"/>
              <a:t>Métricas clave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7351B6E8-2109-CBEC-4AB5-4A908DA26653}"/>
              </a:ext>
            </a:extLst>
          </p:cNvPr>
          <p:cNvSpPr txBox="1"/>
          <p:nvPr/>
        </p:nvSpPr>
        <p:spPr>
          <a:xfrm>
            <a:off x="4203510" y="2967132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5000"/>
              </a:lnSpc>
              <a:buSzPts val="853"/>
            </a:pPr>
            <a:r>
              <a:rPr lang="es-ES" sz="1600" b="1" dirty="0"/>
              <a:t>Impacto en el negocio</a:t>
            </a:r>
            <a:r>
              <a:rPr lang="es-ES" sz="1600" dirty="0"/>
              <a:t> 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FD9CE01-6C7A-1575-FB72-D3F80BFB6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5" y="5383484"/>
            <a:ext cx="2126037" cy="217749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6411455-DFEF-C1CF-5906-46376E57F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542" y="7477164"/>
            <a:ext cx="2973010" cy="22319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A369199-A220-E968-BA39-E7A167A2D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552" y="5322415"/>
            <a:ext cx="2589362" cy="2238568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C939F68-2980-ABA7-390C-1F1145B3F539}"/>
              </a:ext>
            </a:extLst>
          </p:cNvPr>
          <p:cNvSpPr txBox="1"/>
          <p:nvPr/>
        </p:nvSpPr>
        <p:spPr>
          <a:xfrm>
            <a:off x="5985124" y="7619378"/>
            <a:ext cx="17872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La distancia y la duración del viaje son las variables más correlacionadas con la tarifa.</a:t>
            </a:r>
            <a:endParaRPr lang="es-E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C6075A-A172-F69F-7013-E5769EA2CC7D}"/>
              </a:ext>
            </a:extLst>
          </p:cNvPr>
          <p:cNvSpPr txBox="1"/>
          <p:nvPr/>
        </p:nvSpPr>
        <p:spPr>
          <a:xfrm>
            <a:off x="0" y="9716361"/>
            <a:ext cx="79020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Los residuos se distribuyen de forma simétrica alrededor de 0, indicando ausencia de sesgo sistemático.</a:t>
            </a:r>
            <a:endParaRPr lang="es-E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65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7E32216F-6522-19DD-E77E-2EC40E8EFFD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670" r="670"/>
          <a:stretch>
            <a:fillRect/>
          </a:stretch>
        </p:blipFill>
        <p:spPr>
          <a:xfrm>
            <a:off x="2461224" y="6123709"/>
            <a:ext cx="5060224" cy="26202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52" name="Google Shape;452;p20"/>
          <p:cNvGrpSpPr/>
          <p:nvPr/>
        </p:nvGrpSpPr>
        <p:grpSpPr>
          <a:xfrm>
            <a:off x="204932" y="782211"/>
            <a:ext cx="5190000" cy="852098"/>
            <a:chOff x="188699" y="849979"/>
            <a:chExt cx="5190000" cy="852098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699" y="849979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Estado del proyecto</a:t>
              </a:r>
              <a:endParaRPr sz="2800" b="1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699" y="1301877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Avance y próximos hitos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1D1A49F6-2684-ABDD-38C0-892338F18A1A}"/>
              </a:ext>
            </a:extLst>
          </p:cNvPr>
          <p:cNvSpPr txBox="1"/>
          <p:nvPr/>
        </p:nvSpPr>
        <p:spPr>
          <a:xfrm>
            <a:off x="204932" y="2504686"/>
            <a:ext cx="71379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El proyecto se encuentra en la fase de preparación y validación de datos.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Se han identificado las principales variables predictoras y los problemas de calidad.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0CDCCA-40A5-2CB7-62D2-5A5DFB996049}"/>
              </a:ext>
            </a:extLst>
          </p:cNvPr>
          <p:cNvSpPr txBox="1"/>
          <p:nvPr/>
        </p:nvSpPr>
        <p:spPr>
          <a:xfrm>
            <a:off x="204931" y="4400370"/>
            <a:ext cx="329381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Fase actual: limpieza y estructuración del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Próxima fase: análisis exploratorio y correlaciones.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Herramientas: Python, pandas,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seaborn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Tableau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D2B467-15FF-794E-803C-283A737C785E}"/>
              </a:ext>
            </a:extLst>
          </p:cNvPr>
          <p:cNvSpPr txBox="1"/>
          <p:nvPr/>
        </p:nvSpPr>
        <p:spPr>
          <a:xfrm>
            <a:off x="3921625" y="4403411"/>
            <a:ext cx="31899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El equipo ha establecido una base sólida para el modelado.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La colaboración entre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Automatidata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y TLC garantiza acceso a datos relevantes y soporte técnico.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F260AF-54F2-D105-8953-585FD6005D4B}"/>
              </a:ext>
            </a:extLst>
          </p:cNvPr>
          <p:cNvSpPr txBox="1"/>
          <p:nvPr/>
        </p:nvSpPr>
        <p:spPr>
          <a:xfrm>
            <a:off x="204931" y="7339284"/>
            <a:ext cx="2296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Finalizar la limpieza y validación.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Iniciar el modelado de regresión.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Preparar visualizaciones para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stakeholders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2ADEC7-D573-ADBE-3B03-CE4E1C9E8B0B}"/>
              </a:ext>
            </a:extLst>
          </p:cNvPr>
          <p:cNvSpPr txBox="1"/>
          <p:nvPr/>
        </p:nvSpPr>
        <p:spPr>
          <a:xfrm>
            <a:off x="2799932" y="9026655"/>
            <a:ext cx="4311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Detalle de registros con valores nulos o fuera de rango, utilizados para definir criterios de limpieza.</a:t>
            </a:r>
          </a:p>
        </p:txBody>
      </p:sp>
      <p:sp>
        <p:nvSpPr>
          <p:cNvPr id="2" name="Google Shape;420;p17">
            <a:extLst>
              <a:ext uri="{FF2B5EF4-FFF2-40B4-BE49-F238E27FC236}">
                <a16:creationId xmlns:a16="http://schemas.microsoft.com/office/drawing/2014/main" id="{A0EE7118-79F7-3763-2944-5D8453F917EC}"/>
              </a:ext>
            </a:extLst>
          </p:cNvPr>
          <p:cNvSpPr txBox="1"/>
          <p:nvPr/>
        </p:nvSpPr>
        <p:spPr>
          <a:xfrm>
            <a:off x="204932" y="2026618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Resumen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6" name="Google Shape;420;p17">
            <a:extLst>
              <a:ext uri="{FF2B5EF4-FFF2-40B4-BE49-F238E27FC236}">
                <a16:creationId xmlns:a16="http://schemas.microsoft.com/office/drawing/2014/main" id="{DEBA2563-C911-EA8F-CB06-5D5A4BCBEFD1}"/>
              </a:ext>
            </a:extLst>
          </p:cNvPr>
          <p:cNvSpPr txBox="1"/>
          <p:nvPr/>
        </p:nvSpPr>
        <p:spPr>
          <a:xfrm>
            <a:off x="204931" y="3925343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Estado del proyecto</a:t>
            </a:r>
          </a:p>
        </p:txBody>
      </p:sp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3B1B743D-3D74-E9E2-C875-89E419431754}"/>
              </a:ext>
            </a:extLst>
          </p:cNvPr>
          <p:cNvSpPr txBox="1"/>
          <p:nvPr/>
        </p:nvSpPr>
        <p:spPr>
          <a:xfrm>
            <a:off x="3921624" y="3925343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Conclusiones clave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4A8410F4-1481-00E6-EF54-9C40BD2D18E4}"/>
              </a:ext>
            </a:extLst>
          </p:cNvPr>
          <p:cNvSpPr txBox="1"/>
          <p:nvPr/>
        </p:nvSpPr>
        <p:spPr>
          <a:xfrm>
            <a:off x="204931" y="6819951"/>
            <a:ext cx="2194282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Próximos pasos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3222EC0E-FC53-09EE-F857-05A23F87CF2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202" r="2202"/>
          <a:stretch>
            <a:fillRect/>
          </a:stretch>
        </p:blipFill>
        <p:spPr>
          <a:xfrm>
            <a:off x="188696" y="6030556"/>
            <a:ext cx="4797728" cy="260054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61" name="Google Shape;461;p21"/>
          <p:cNvGrpSpPr/>
          <p:nvPr/>
        </p:nvGrpSpPr>
        <p:grpSpPr>
          <a:xfrm>
            <a:off x="188696" y="689072"/>
            <a:ext cx="7241424" cy="870372"/>
            <a:chOff x="188697" y="689072"/>
            <a:chExt cx="5190000" cy="870372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697" y="689072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Síntesis del análisis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697" y="1135297"/>
              <a:ext cx="3965718" cy="4241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Resumen, problema, solución y próximos pasos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7314CB12-B985-016B-8223-01B67B8C485C}"/>
              </a:ext>
            </a:extLst>
          </p:cNvPr>
          <p:cNvSpPr txBox="1"/>
          <p:nvPr/>
        </p:nvSpPr>
        <p:spPr>
          <a:xfrm>
            <a:off x="188696" y="2158880"/>
            <a:ext cx="7285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El análisis inicial confirma que los datos de TLC son amplios y útiles para construir un modelo predictivo de tarifas.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77B777-73DB-D169-FB3C-17E277B3389A}"/>
              </a:ext>
            </a:extLst>
          </p:cNvPr>
          <p:cNvSpPr txBox="1"/>
          <p:nvPr/>
        </p:nvSpPr>
        <p:spPr>
          <a:xfrm>
            <a:off x="188696" y="3231075"/>
            <a:ext cx="7311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La calidad de los datos presenta desafíos: valores nulos, formatos inconsistentes y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outliers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BAC43B-CB54-49AA-89F6-E180C5849456}"/>
              </a:ext>
            </a:extLst>
          </p:cNvPr>
          <p:cNvSpPr txBox="1"/>
          <p:nvPr/>
        </p:nvSpPr>
        <p:spPr>
          <a:xfrm>
            <a:off x="188697" y="4200818"/>
            <a:ext cx="7241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Aplicar limpieza sistemática, normalización de formatos y creación de variables derivadas para mejorar la precisión del modelo.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5BA9F9-4CD9-0DED-18B3-86FEDE1831CD}"/>
              </a:ext>
            </a:extLst>
          </p:cNvPr>
          <p:cNvSpPr txBox="1"/>
          <p:nvPr/>
        </p:nvSpPr>
        <p:spPr>
          <a:xfrm>
            <a:off x="188696" y="5332990"/>
            <a:ext cx="7278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Se documentarán todas las decisiones de limpieza y transformación para garantizar transparencia y reproducibilidad.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244C65-5BE5-6C8C-7A33-F2CBB8FCDB8A}"/>
              </a:ext>
            </a:extLst>
          </p:cNvPr>
          <p:cNvSpPr txBox="1"/>
          <p:nvPr/>
        </p:nvSpPr>
        <p:spPr>
          <a:xfrm>
            <a:off x="3662740" y="8865625"/>
            <a:ext cx="3767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Completar EDA y correlaciones.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Desarrollar modelo de regresión.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Presentar resultados y visualizaciones a TLC.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F971F3F-71F4-4E0E-516A-9449466C7470}"/>
              </a:ext>
            </a:extLst>
          </p:cNvPr>
          <p:cNvSpPr txBox="1"/>
          <p:nvPr/>
        </p:nvSpPr>
        <p:spPr>
          <a:xfrm>
            <a:off x="5117440" y="7283967"/>
            <a:ext cx="23829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Visualización comparativa tras la depuración del </a:t>
            </a:r>
            <a:r>
              <a:rPr lang="es-E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, mostrando la mejora en la coherencia de los datos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Google Shape;420;p17">
            <a:extLst>
              <a:ext uri="{FF2B5EF4-FFF2-40B4-BE49-F238E27FC236}">
                <a16:creationId xmlns:a16="http://schemas.microsoft.com/office/drawing/2014/main" id="{D47A4773-8510-640B-6F43-BA0E7BF6F7DF}"/>
              </a:ext>
            </a:extLst>
          </p:cNvPr>
          <p:cNvSpPr txBox="1"/>
          <p:nvPr/>
        </p:nvSpPr>
        <p:spPr>
          <a:xfrm>
            <a:off x="195411" y="8835535"/>
            <a:ext cx="2540645" cy="3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Próximos pasos</a:t>
            </a:r>
          </a:p>
        </p:txBody>
      </p:sp>
      <p:sp>
        <p:nvSpPr>
          <p:cNvPr id="6" name="Google Shape;420;p17">
            <a:extLst>
              <a:ext uri="{FF2B5EF4-FFF2-40B4-BE49-F238E27FC236}">
                <a16:creationId xmlns:a16="http://schemas.microsoft.com/office/drawing/2014/main" id="{8D81F493-4F03-DC9E-FFDD-BB32AD65BC67}"/>
              </a:ext>
            </a:extLst>
          </p:cNvPr>
          <p:cNvSpPr txBox="1"/>
          <p:nvPr/>
        </p:nvSpPr>
        <p:spPr>
          <a:xfrm>
            <a:off x="188696" y="1775415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Resumen</a:t>
            </a: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0CCF5531-FD36-8D8F-95B3-E6F6813F1999}"/>
              </a:ext>
            </a:extLst>
          </p:cNvPr>
          <p:cNvSpPr txBox="1"/>
          <p:nvPr/>
        </p:nvSpPr>
        <p:spPr>
          <a:xfrm>
            <a:off x="188696" y="2907689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-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Problema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5781B195-B7AC-863A-0756-60B48B84C9E5}"/>
              </a:ext>
            </a:extLst>
          </p:cNvPr>
          <p:cNvSpPr txBox="1"/>
          <p:nvPr/>
        </p:nvSpPr>
        <p:spPr>
          <a:xfrm>
            <a:off x="195411" y="3868421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Solución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2" name="Google Shape;420;p17">
            <a:extLst>
              <a:ext uri="{FF2B5EF4-FFF2-40B4-BE49-F238E27FC236}">
                <a16:creationId xmlns:a16="http://schemas.microsoft.com/office/drawing/2014/main" id="{F59719D5-8579-14FD-1BFC-7A100FDD70E5}"/>
              </a:ext>
            </a:extLst>
          </p:cNvPr>
          <p:cNvSpPr txBox="1"/>
          <p:nvPr/>
        </p:nvSpPr>
        <p:spPr>
          <a:xfrm>
            <a:off x="188696" y="4974462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Detalles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699" y="710363"/>
            <a:ext cx="5190000" cy="846433"/>
            <a:chOff x="188699" y="710363"/>
            <a:chExt cx="5190000" cy="846433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699" y="710363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800" b="1" dirty="0">
                  <a:latin typeface="Segoe UI" panose="020B0502040204020203" pitchFamily="34" charset="0"/>
                  <a:ea typeface="Google Sans SemiBold"/>
                  <a:cs typeface="Segoe UI" panose="020B0502040204020203" pitchFamily="34" charset="0"/>
                  <a:sym typeface="Google Sans SemiBold"/>
                </a:rPr>
                <a:t>Conclusión del proyecto</a:t>
              </a:r>
              <a:endParaRPr sz="2800" dirty="0">
                <a:solidFill>
                  <a:srgbClr val="000000"/>
                </a:solidFill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699" y="1156596"/>
              <a:ext cx="5048318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s-ES" dirty="0">
                  <a:solidFill>
                    <a:schemeClr val="bg2">
                      <a:lumMod val="20000"/>
                      <a:lumOff val="80000"/>
                    </a:schemeClr>
                  </a:solidFill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Objetivo, resultados y próximos pasos</a:t>
              </a:r>
              <a:endParaRPr dirty="0">
                <a:solidFill>
                  <a:schemeClr val="bg2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32285C40-72EA-B693-21B3-31364B4A6A6E}"/>
              </a:ext>
            </a:extLst>
          </p:cNvPr>
          <p:cNvSpPr txBox="1"/>
          <p:nvPr/>
        </p:nvSpPr>
        <p:spPr>
          <a:xfrm>
            <a:off x="213768" y="2353932"/>
            <a:ext cx="7344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El proyecto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Automatidata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–TLC demuestra cómo el análisis de datos puede optimizar procesos urbanos y mejorar la experiencia del cliente.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730107-43B4-2AC0-8E8A-652FDA84D7CE}"/>
              </a:ext>
            </a:extLst>
          </p:cNvPr>
          <p:cNvSpPr txBox="1"/>
          <p:nvPr/>
        </p:nvSpPr>
        <p:spPr>
          <a:xfrm>
            <a:off x="188696" y="3551096"/>
            <a:ext cx="7344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Desarrollar un modelo de regresión que prediga tarifas de taxi antes del viaje, utilizando datos históricos y variables contextuales.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B460B0-D9BB-9818-C926-47C66689EA3B}"/>
              </a:ext>
            </a:extLst>
          </p:cNvPr>
          <p:cNvSpPr txBox="1"/>
          <p:nvPr/>
        </p:nvSpPr>
        <p:spPr>
          <a:xfrm>
            <a:off x="188699" y="5343007"/>
            <a:ext cx="28936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s-E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 estructurado y validado.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Variables clave identificadas.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Plan de modelado definido.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C988E4-28C7-7BC3-46EE-FF034587913C}"/>
              </a:ext>
            </a:extLst>
          </p:cNvPr>
          <p:cNvSpPr txBox="1"/>
          <p:nvPr/>
        </p:nvSpPr>
        <p:spPr>
          <a:xfrm>
            <a:off x="213768" y="8899807"/>
            <a:ext cx="73448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Entrenar y evaluar el modelo predictivo.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Generar visualizaciones finales y resumen ejecutivo para TLC.</a:t>
            </a:r>
          </a:p>
          <a:p>
            <a:r>
              <a:rPr lang="es-ES" sz="1400" dirty="0">
                <a:latin typeface="Segoe UI" panose="020B0502040204020203" pitchFamily="34" charset="0"/>
                <a:cs typeface="Segoe UI" panose="020B0502040204020203" pitchFamily="34" charset="0"/>
              </a:rPr>
              <a:t>• Presentar conclusiones y recomendaciones estratégicas.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676F67-3CFB-2B50-73B7-0DD83886291B}"/>
              </a:ext>
            </a:extLst>
          </p:cNvPr>
          <p:cNvSpPr txBox="1"/>
          <p:nvPr/>
        </p:nvSpPr>
        <p:spPr>
          <a:xfrm>
            <a:off x="188699" y="7184919"/>
            <a:ext cx="277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latin typeface="Segoe UI" panose="020B0502040204020203" pitchFamily="34" charset="0"/>
                <a:cs typeface="Segoe UI" panose="020B0502040204020203" pitchFamily="34" charset="0"/>
              </a:rPr>
              <a:t>Relación entre importe total y distancia del viaje. Los puntos naranjas indican viajes con distancia = 0, posibles errores que deben excluirse del modelo.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2D83F4-904F-3269-E48A-B102A56F4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385" y="4887550"/>
            <a:ext cx="4451180" cy="3005255"/>
          </a:xfrm>
          <a:prstGeom prst="rect">
            <a:avLst/>
          </a:prstGeom>
        </p:spPr>
      </p:pic>
      <p:sp>
        <p:nvSpPr>
          <p:cNvPr id="2" name="Google Shape;420;p17">
            <a:extLst>
              <a:ext uri="{FF2B5EF4-FFF2-40B4-BE49-F238E27FC236}">
                <a16:creationId xmlns:a16="http://schemas.microsoft.com/office/drawing/2014/main" id="{58AC43F3-F8C9-228E-9292-80E3A9FB7DD1}"/>
              </a:ext>
            </a:extLst>
          </p:cNvPr>
          <p:cNvSpPr txBox="1"/>
          <p:nvPr/>
        </p:nvSpPr>
        <p:spPr>
          <a:xfrm>
            <a:off x="213768" y="8407666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Próximos pasos</a:t>
            </a:r>
          </a:p>
        </p:txBody>
      </p:sp>
      <p:sp>
        <p:nvSpPr>
          <p:cNvPr id="6" name="Google Shape;420;p17">
            <a:extLst>
              <a:ext uri="{FF2B5EF4-FFF2-40B4-BE49-F238E27FC236}">
                <a16:creationId xmlns:a16="http://schemas.microsoft.com/office/drawing/2014/main" id="{B6BAA4D5-72C1-6114-F422-26CC862F3562}"/>
              </a:ext>
            </a:extLst>
          </p:cNvPr>
          <p:cNvSpPr txBox="1"/>
          <p:nvPr/>
        </p:nvSpPr>
        <p:spPr>
          <a:xfrm>
            <a:off x="188699" y="4914997"/>
            <a:ext cx="2263555" cy="39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Resultados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8" name="Google Shape;420;p17">
            <a:extLst>
              <a:ext uri="{FF2B5EF4-FFF2-40B4-BE49-F238E27FC236}">
                <a16:creationId xmlns:a16="http://schemas.microsoft.com/office/drawing/2014/main" id="{8520511D-9FDE-1B8F-17BB-1FD8111D7EBA}"/>
              </a:ext>
            </a:extLst>
          </p:cNvPr>
          <p:cNvSpPr txBox="1"/>
          <p:nvPr/>
        </p:nvSpPr>
        <p:spPr>
          <a:xfrm>
            <a:off x="188696" y="3117388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Objetivos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  <p:sp>
        <p:nvSpPr>
          <p:cNvPr id="10" name="Google Shape;420;p17">
            <a:extLst>
              <a:ext uri="{FF2B5EF4-FFF2-40B4-BE49-F238E27FC236}">
                <a16:creationId xmlns:a16="http://schemas.microsoft.com/office/drawing/2014/main" id="{7262AF81-EFE5-02C0-1796-1656319DA569}"/>
              </a:ext>
            </a:extLst>
          </p:cNvPr>
          <p:cNvSpPr txBox="1"/>
          <p:nvPr/>
        </p:nvSpPr>
        <p:spPr>
          <a:xfrm>
            <a:off x="213768" y="1958091"/>
            <a:ext cx="3150245" cy="39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s" sz="1600" b="1" dirty="0">
                <a:latin typeface="Segoe UI" panose="020B0502040204020203" pitchFamily="34" charset="0"/>
                <a:ea typeface="Google Sans SemiBold"/>
                <a:cs typeface="Segoe UI" panose="020B0502040204020203" pitchFamily="34" charset="0"/>
                <a:sym typeface="Google Sans SemiBold"/>
              </a:rPr>
              <a:t>Resumen</a:t>
            </a:r>
            <a:endParaRPr sz="1600" b="1" dirty="0">
              <a:latin typeface="Segoe UI" panose="020B0502040204020203" pitchFamily="34" charset="0"/>
              <a:ea typeface="Google Sans SemiBold"/>
              <a:cs typeface="Segoe UI" panose="020B0502040204020203" pitchFamily="34" charset="0"/>
              <a:sym typeface="Google Sans SemiBold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Automatidata">
      <a:dk1>
        <a:srgbClr val="333333"/>
      </a:dk1>
      <a:lt1>
        <a:srgbClr val="FFFFFF"/>
      </a:lt1>
      <a:dk2>
        <a:srgbClr val="003366"/>
      </a:dk2>
      <a:lt2>
        <a:srgbClr val="F5F5F5"/>
      </a:lt2>
      <a:accent1>
        <a:srgbClr val="CC0000"/>
      </a:accent1>
      <a:accent2>
        <a:srgbClr val="0066CC"/>
      </a:accent2>
      <a:accent3>
        <a:srgbClr val="FF9933"/>
      </a:accent3>
      <a:accent4>
        <a:srgbClr val="669966"/>
      </a:accent4>
      <a:accent5>
        <a:srgbClr val="808080"/>
      </a:accent5>
      <a:accent6>
        <a:srgbClr val="99CCFF"/>
      </a:accent6>
      <a:hlink>
        <a:srgbClr val="0066CC"/>
      </a:hlink>
      <a:folHlink>
        <a:srgbClr val="99000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2216</TotalTime>
  <Words>1225</Words>
  <Application>Microsoft Office PowerPoint</Application>
  <PresentationFormat>Personalizado</PresentationFormat>
  <Paragraphs>124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Segoe UI</vt:lpstr>
      <vt:lpstr>Wingdings 3</vt:lpstr>
      <vt:lpstr>Arial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Selene Rsp</dc:creator>
  <cp:lastModifiedBy>Rebe Soto</cp:lastModifiedBy>
  <cp:revision>12</cp:revision>
  <dcterms:modified xsi:type="dcterms:W3CDTF">2026-06-29T23:19:13Z</dcterms:modified>
</cp:coreProperties>
</file>